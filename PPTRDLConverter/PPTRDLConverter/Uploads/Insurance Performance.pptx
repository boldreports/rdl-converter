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20726400" cy="13411200" type="custom"/>
  <p:notesSz cx="6858000" cy="9144000"/>
  <p:defaultTextStyle>
    <a:defPPr defTabSz="914400">
      <a:defRPr lang="en-US" dirty="0"/>
    </a:defPPr>
    <a:lvl1pPr marL="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3" Type="http://schemas.openxmlformats.org/officeDocument/2006/relationships/viewProps" Target="viewProps.xml" /><Relationship Id="rId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" Type="http://schemas.openxmlformats.org/officeDocument/2006/relationships/tableStyles" Target="tableStyles.xml" /><Relationship Id="rId4" Type="http://schemas.openxmlformats.org/officeDocument/2006/relationships/theme" Target="theme/theme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anchor="b" wrap="square"/>
          <a:lstStyle>
            <a:lvl1pPr algn="ctr"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pPr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/ppt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rtl="0" algn="l" defTabSz="91440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rtl="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Relationship Id="rId3" Type="http://schemas.openxmlformats.org/officeDocument/2006/relationships/image" Target="../media/image2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image" Target="../media/image5.png" /><Relationship Id="rId5" Type="http://schemas.openxmlformats.org/officeDocument/2006/relationships/image" Target="../media/image6.png" /><Relationship Id="rId6" Type="http://schemas.openxmlformats.org/officeDocument/2006/relationships/image" Target="../media/image7.png" /><Relationship Id="rId7" Type="http://schemas.openxmlformats.org/officeDocument/2006/relationships/image" Target="../media/image8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 rot="0">
            <a:off x="1270000" y="889000"/>
            <a:ext cx="18567400" cy="1124373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3" name="Rectangle3"/>
          <p:cNvSpPr>
            <a:spLocks/>
          </p:cNvSpPr>
          <p:nvPr/>
        </p:nvSpPr>
        <p:spPr>
          <a:xfrm rot="0">
            <a:off x="1270000" y="889000"/>
            <a:ext cx="18567400" cy="66463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4" name="Rectangle4"/>
          <p:cNvSpPr>
            <a:spLocks/>
          </p:cNvSpPr>
          <p:nvPr/>
        </p:nvSpPr>
        <p:spPr>
          <a:xfrm rot="0">
            <a:off x="1270000" y="889000"/>
            <a:ext cx="18161000" cy="673100"/>
          </a:xfrm>
          <a:prstGeom prst="rect">
            <a:avLst/>
          </a:prstGeom>
          <a:solidFill>
            <a:srgbClr val="555B63"/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5" name="Rectangle5"/>
          <p:cNvSpPr>
            <a:spLocks/>
          </p:cNvSpPr>
          <p:nvPr/>
        </p:nvSpPr>
        <p:spPr>
          <a:xfrm rot="0">
            <a:off x="1384300" y="1066800"/>
            <a:ext cx="4864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2121" rIns="33867" bIns="33867" anchor="ctr" wrap="square"/>
          <a:lstStyle/>
          <a:p>
            <a:pPr algn="l" defTabSz="914400"/>
            <a:r>
              <a:rPr sz="19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Insurance Performace Report</a:t>
            </a:r>
            <a:r>
              <a:rPr sz="19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﻿</a:t>
            </a:r>
          </a:p>
        </p:txBody>
      </p:sp>
      <p:sp>
        <p:nvSpPr>
          <p:cNvPr id="6" name="Rectangle6"/>
          <p:cNvSpPr>
            <a:spLocks/>
          </p:cNvSpPr>
          <p:nvPr/>
        </p:nvSpPr>
        <p:spPr>
          <a:xfrm rot="0">
            <a:off x="1270000" y="1562100"/>
            <a:ext cx="18567400" cy="1098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7" name="Rectangle7"/>
          <p:cNvSpPr>
            <a:spLocks/>
          </p:cNvSpPr>
          <p:nvPr/>
        </p:nvSpPr>
        <p:spPr>
          <a:xfrm rot="0">
            <a:off x="1384300" y="1854200"/>
            <a:ext cx="3302000" cy="1052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8" name="Rectangle8"/>
          <p:cNvSpPr>
            <a:spLocks/>
          </p:cNvSpPr>
          <p:nvPr/>
        </p:nvSpPr>
        <p:spPr>
          <a:xfrm rot="0">
            <a:off x="1384300" y="2006600"/>
            <a:ext cx="3175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9" name="Line9"/>
          <p:cNvCxnSpPr/>
          <p:nvPr/>
        </p:nvCxnSpPr>
        <p:spPr>
          <a:xfrm rot="0">
            <a:off x="1384300" y="2006600"/>
            <a:ext cx="3175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ne10"/>
          <p:cNvCxnSpPr/>
          <p:nvPr/>
        </p:nvCxnSpPr>
        <p:spPr>
          <a:xfrm rot="0">
            <a:off x="1384300" y="3530600"/>
            <a:ext cx="3175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ne11"/>
          <p:cNvCxnSpPr/>
          <p:nvPr/>
        </p:nvCxnSpPr>
        <p:spPr>
          <a:xfrm rot="0">
            <a:off x="1384300" y="2006600"/>
            <a:ext cx="0" cy="1524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ine12"/>
          <p:cNvCxnSpPr/>
          <p:nvPr/>
        </p:nvCxnSpPr>
        <p:spPr>
          <a:xfrm rot="0">
            <a:off x="4559300" y="2006600"/>
            <a:ext cx="0" cy="1524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13"/>
          <p:cNvSpPr>
            <a:spLocks/>
          </p:cNvSpPr>
          <p:nvPr/>
        </p:nvSpPr>
        <p:spPr>
          <a:xfrm rot="0">
            <a:off x="1879600" y="2235200"/>
            <a:ext cx="2120900" cy="46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ctr" wrap="square"/>
          <a:lstStyle/>
          <a:p>
            <a:pPr algn="ctr" defTabSz="914400"/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Policies </a:t>
            </a:r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﻿</a:t>
            </a:r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Sold</a:t>
            </a:r>
          </a:p>
        </p:txBody>
      </p:sp>
      <p:sp>
        <p:nvSpPr>
          <p:cNvPr id="14" name="Rectangle14"/>
          <p:cNvSpPr>
            <a:spLocks/>
          </p:cNvSpPr>
          <p:nvPr/>
        </p:nvSpPr>
        <p:spPr>
          <a:xfrm rot="0">
            <a:off x="1879600" y="2705100"/>
            <a:ext cx="2120900" cy="63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ctr" wrap="square"/>
          <a:lstStyle/>
          <a:p>
            <a:pPr algn="ctr" defTabSz="914400"/>
            <a:r>
              <a:rPr sz="32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5" name="Rectangle15"/>
          <p:cNvSpPr>
            <a:spLocks/>
          </p:cNvSpPr>
          <p:nvPr/>
        </p:nvSpPr>
        <p:spPr>
          <a:xfrm rot="0">
            <a:off x="1384300" y="3657600"/>
            <a:ext cx="3175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16" name="Line16"/>
          <p:cNvCxnSpPr/>
          <p:nvPr/>
        </p:nvCxnSpPr>
        <p:spPr>
          <a:xfrm rot="0">
            <a:off x="1384300" y="3657600"/>
            <a:ext cx="3175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ne17"/>
          <p:cNvCxnSpPr/>
          <p:nvPr/>
        </p:nvCxnSpPr>
        <p:spPr>
          <a:xfrm rot="0">
            <a:off x="1384300" y="5181600"/>
            <a:ext cx="3175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ine18"/>
          <p:cNvCxnSpPr/>
          <p:nvPr/>
        </p:nvCxnSpPr>
        <p:spPr>
          <a:xfrm rot="0">
            <a:off x="1384300" y="3657600"/>
            <a:ext cx="0" cy="1524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Line19"/>
          <p:cNvCxnSpPr/>
          <p:nvPr/>
        </p:nvCxnSpPr>
        <p:spPr>
          <a:xfrm rot="0">
            <a:off x="4559300" y="3657600"/>
            <a:ext cx="0" cy="1524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20"/>
          <p:cNvSpPr>
            <a:spLocks/>
          </p:cNvSpPr>
          <p:nvPr/>
        </p:nvSpPr>
        <p:spPr>
          <a:xfrm rot="0">
            <a:off x="1879600" y="3886200"/>
            <a:ext cx="2120900" cy="46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ctr" wrap="square"/>
          <a:lstStyle/>
          <a:p>
            <a:pPr algn="ctr" defTabSz="914400"/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Assured</a:t>
            </a:r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 Amount</a:t>
            </a:r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21" name="Rectangle21"/>
          <p:cNvSpPr>
            <a:spLocks/>
          </p:cNvSpPr>
          <p:nvPr/>
        </p:nvSpPr>
        <p:spPr>
          <a:xfrm rot="0">
            <a:off x="1879600" y="4356100"/>
            <a:ext cx="2120900" cy="63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ctr" wrap="square"/>
          <a:lstStyle/>
          <a:p>
            <a:pPr algn="ctr" defTabSz="914400"/>
            <a:r>
              <a:rPr sz="32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$0.13M</a:t>
            </a:r>
          </a:p>
        </p:txBody>
      </p:sp>
      <p:sp>
        <p:nvSpPr>
          <p:cNvPr id="22" name="Rectangle22"/>
          <p:cNvSpPr>
            <a:spLocks/>
          </p:cNvSpPr>
          <p:nvPr/>
        </p:nvSpPr>
        <p:spPr>
          <a:xfrm rot="0">
            <a:off x="1384300" y="5410200"/>
            <a:ext cx="3175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23" name="Line23"/>
          <p:cNvCxnSpPr/>
          <p:nvPr/>
        </p:nvCxnSpPr>
        <p:spPr>
          <a:xfrm rot="0">
            <a:off x="1384300" y="5410200"/>
            <a:ext cx="3175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Line24"/>
          <p:cNvCxnSpPr/>
          <p:nvPr/>
        </p:nvCxnSpPr>
        <p:spPr>
          <a:xfrm rot="0">
            <a:off x="1384300" y="6934200"/>
            <a:ext cx="3175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Line25"/>
          <p:cNvCxnSpPr/>
          <p:nvPr/>
        </p:nvCxnSpPr>
        <p:spPr>
          <a:xfrm rot="0">
            <a:off x="1384300" y="5410200"/>
            <a:ext cx="0" cy="1524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Line26"/>
          <p:cNvCxnSpPr/>
          <p:nvPr/>
        </p:nvCxnSpPr>
        <p:spPr>
          <a:xfrm rot="0">
            <a:off x="4559300" y="5410200"/>
            <a:ext cx="0" cy="1524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27"/>
          <p:cNvSpPr>
            <a:spLocks/>
          </p:cNvSpPr>
          <p:nvPr/>
        </p:nvSpPr>
        <p:spPr>
          <a:xfrm rot="0">
            <a:off x="1879600" y="5638800"/>
            <a:ext cx="2120900" cy="46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ctr" wrap="square"/>
          <a:lstStyle/>
          <a:p>
            <a:pPr algn="ctr" defTabSz="914400"/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Avg. Premium </a:t>
            </a:r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28" name="Rectangle28"/>
          <p:cNvSpPr>
            <a:spLocks/>
          </p:cNvSpPr>
          <p:nvPr/>
        </p:nvSpPr>
        <p:spPr>
          <a:xfrm rot="0">
            <a:off x="1879600" y="6108700"/>
            <a:ext cx="2120900" cy="63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ctr" wrap="square"/>
          <a:lstStyle/>
          <a:p>
            <a:pPr algn="ctr" defTabSz="914400"/>
            <a:r>
              <a:rPr sz="32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$78.99K</a:t>
            </a:r>
          </a:p>
        </p:txBody>
      </p:sp>
      <p:sp>
        <p:nvSpPr>
          <p:cNvPr id="29" name="Rectangle29"/>
          <p:cNvSpPr>
            <a:spLocks/>
          </p:cNvSpPr>
          <p:nvPr/>
        </p:nvSpPr>
        <p:spPr>
          <a:xfrm rot="0">
            <a:off x="1384300" y="7112000"/>
            <a:ext cx="3175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30" name="Line30"/>
          <p:cNvCxnSpPr/>
          <p:nvPr/>
        </p:nvCxnSpPr>
        <p:spPr>
          <a:xfrm rot="0">
            <a:off x="1384300" y="7112000"/>
            <a:ext cx="3175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ne31"/>
          <p:cNvCxnSpPr/>
          <p:nvPr/>
        </p:nvCxnSpPr>
        <p:spPr>
          <a:xfrm rot="0">
            <a:off x="1384300" y="8636000"/>
            <a:ext cx="3175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Line32"/>
          <p:cNvCxnSpPr/>
          <p:nvPr/>
        </p:nvCxnSpPr>
        <p:spPr>
          <a:xfrm rot="0">
            <a:off x="1384300" y="7112000"/>
            <a:ext cx="0" cy="1524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Line33"/>
          <p:cNvCxnSpPr/>
          <p:nvPr/>
        </p:nvCxnSpPr>
        <p:spPr>
          <a:xfrm rot="0">
            <a:off x="4559300" y="7112000"/>
            <a:ext cx="0" cy="1524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34"/>
          <p:cNvSpPr>
            <a:spLocks/>
          </p:cNvSpPr>
          <p:nvPr/>
        </p:nvSpPr>
        <p:spPr>
          <a:xfrm rot="0">
            <a:off x="1879600" y="7340600"/>
            <a:ext cx="2120900" cy="46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ctr" wrap="square"/>
          <a:lstStyle/>
          <a:p>
            <a:pPr algn="ctr" defTabSz="914400"/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Total </a:t>
            </a:r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Premium</a:t>
            </a:r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35" name="Rectangle35"/>
          <p:cNvSpPr>
            <a:spLocks/>
          </p:cNvSpPr>
          <p:nvPr/>
        </p:nvSpPr>
        <p:spPr>
          <a:xfrm rot="0">
            <a:off x="1879600" y="7810500"/>
            <a:ext cx="2120900" cy="63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ctr" wrap="square"/>
          <a:lstStyle/>
          <a:p>
            <a:pPr algn="ctr" defTabSz="914400"/>
            <a:r>
              <a:rPr sz="32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$0.08M</a:t>
            </a:r>
          </a:p>
        </p:txBody>
      </p:sp>
      <p:sp>
        <p:nvSpPr>
          <p:cNvPr id="36" name="Rectangle36"/>
          <p:cNvSpPr>
            <a:spLocks/>
          </p:cNvSpPr>
          <p:nvPr/>
        </p:nvSpPr>
        <p:spPr>
          <a:xfrm rot="0">
            <a:off x="1384300" y="8839200"/>
            <a:ext cx="3175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37" name="Line37"/>
          <p:cNvCxnSpPr/>
          <p:nvPr/>
        </p:nvCxnSpPr>
        <p:spPr>
          <a:xfrm rot="0">
            <a:off x="1384300" y="8839200"/>
            <a:ext cx="3175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Line38"/>
          <p:cNvCxnSpPr/>
          <p:nvPr/>
        </p:nvCxnSpPr>
        <p:spPr>
          <a:xfrm rot="0">
            <a:off x="1384300" y="10363200"/>
            <a:ext cx="3175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Line39"/>
          <p:cNvCxnSpPr/>
          <p:nvPr/>
        </p:nvCxnSpPr>
        <p:spPr>
          <a:xfrm rot="0">
            <a:off x="1384300" y="8839200"/>
            <a:ext cx="0" cy="1524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Line40"/>
          <p:cNvCxnSpPr/>
          <p:nvPr/>
        </p:nvCxnSpPr>
        <p:spPr>
          <a:xfrm rot="0">
            <a:off x="4559300" y="8839200"/>
            <a:ext cx="0" cy="1524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41"/>
          <p:cNvSpPr>
            <a:spLocks/>
          </p:cNvSpPr>
          <p:nvPr/>
        </p:nvSpPr>
        <p:spPr>
          <a:xfrm rot="0">
            <a:off x="1447800" y="8978900"/>
            <a:ext cx="3111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33867" rIns="0" bIns="33867" anchor="ctr" wrap="square"/>
          <a:lstStyle/>
          <a:p>
            <a:pPr algn="ctr" defTabSz="914400"/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Avg. Claim Processing Time</a:t>
            </a:r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42" name="Rectangle42"/>
          <p:cNvSpPr>
            <a:spLocks/>
          </p:cNvSpPr>
          <p:nvPr/>
        </p:nvSpPr>
        <p:spPr>
          <a:xfrm rot="0">
            <a:off x="1879600" y="9537700"/>
            <a:ext cx="2120900" cy="63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ctr" wrap="square"/>
          <a:lstStyle/>
          <a:p>
            <a:pPr algn="ctr" defTabSz="914400"/>
            <a:r>
              <a:rPr sz="32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8 Day(s)</a:t>
            </a:r>
          </a:p>
        </p:txBody>
      </p:sp>
      <p:sp>
        <p:nvSpPr>
          <p:cNvPr id="43" name="Rectangle43"/>
          <p:cNvSpPr>
            <a:spLocks/>
          </p:cNvSpPr>
          <p:nvPr/>
        </p:nvSpPr>
        <p:spPr>
          <a:xfrm rot="0">
            <a:off x="1384300" y="10617200"/>
            <a:ext cx="3175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44" name="Line44"/>
          <p:cNvCxnSpPr/>
          <p:nvPr/>
        </p:nvCxnSpPr>
        <p:spPr>
          <a:xfrm rot="0">
            <a:off x="1384300" y="10617200"/>
            <a:ext cx="3175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Line45"/>
          <p:cNvCxnSpPr/>
          <p:nvPr/>
        </p:nvCxnSpPr>
        <p:spPr>
          <a:xfrm rot="0">
            <a:off x="1384300" y="12141200"/>
            <a:ext cx="3175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Line46"/>
          <p:cNvCxnSpPr/>
          <p:nvPr/>
        </p:nvCxnSpPr>
        <p:spPr>
          <a:xfrm rot="0">
            <a:off x="1384300" y="10617200"/>
            <a:ext cx="0" cy="1524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Line47"/>
          <p:cNvCxnSpPr/>
          <p:nvPr/>
        </p:nvCxnSpPr>
        <p:spPr>
          <a:xfrm rot="0">
            <a:off x="4559300" y="10617200"/>
            <a:ext cx="0" cy="1524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48"/>
          <p:cNvSpPr>
            <a:spLocks/>
          </p:cNvSpPr>
          <p:nvPr/>
        </p:nvSpPr>
        <p:spPr>
          <a:xfrm rot="0">
            <a:off x="1879600" y="10845800"/>
            <a:ext cx="2120900" cy="46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ctr" wrap="square"/>
          <a:lstStyle/>
          <a:p>
            <a:pPr algn="ctr" defTabSz="914400"/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Loss Severity</a:t>
            </a:r>
            <a:r>
              <a:rPr sz="16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49" name="Rectangle49"/>
          <p:cNvSpPr>
            <a:spLocks/>
          </p:cNvSpPr>
          <p:nvPr/>
        </p:nvSpPr>
        <p:spPr>
          <a:xfrm rot="0">
            <a:off x="1879600" y="11315700"/>
            <a:ext cx="2120900" cy="63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ctr" wrap="square"/>
          <a:lstStyle/>
          <a:p>
            <a:pPr algn="ctr" defTabSz="914400"/>
            <a:r>
              <a:rPr sz="3200" dirty="0">
                <a:solidFill>
                  <a:srgbClr val="505D6F"/>
                </a:solidFill>
                <a:latin typeface="Segoe UI"/>
                <a:ea typeface="Segoe UI"/>
                <a:cs typeface="Segoe UI"/>
              </a:rPr>
              <a:t>$1</a:t>
            </a:r>
          </a:p>
        </p:txBody>
      </p:sp>
      <p:sp>
        <p:nvSpPr>
          <p:cNvPr id="50" name="Rectangle50"/>
          <p:cNvSpPr>
            <a:spLocks/>
          </p:cNvSpPr>
          <p:nvPr/>
        </p:nvSpPr>
        <p:spPr>
          <a:xfrm rot="0">
            <a:off x="4813300" y="1854200"/>
            <a:ext cx="14490700" cy="648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pic>
        <p:nvPicPr>
          <p:cNvPr id="51" name="Picture 51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>
          <a:xfrm rot="0">
            <a:off x="4838700" y="2006600"/>
            <a:ext cx="7239000" cy="6235700"/>
          </a:xfrm>
          <a:prstGeom prst="rect">
            <a:avLst/>
          </a:prstGeom>
          <a:ln>
            <a:headEnd type="none"/>
            <a:tailEnd type="none"/>
          </a:ln>
        </p:spPr>
      </p:pic>
      <p:cxnSp>
        <p:nvCxnSpPr>
          <p:cNvPr id="52" name="Line52"/>
          <p:cNvCxnSpPr/>
          <p:nvPr/>
        </p:nvCxnSpPr>
        <p:spPr>
          <a:xfrm rot="0">
            <a:off x="4838700" y="2006600"/>
            <a:ext cx="7239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Line53"/>
          <p:cNvCxnSpPr/>
          <p:nvPr/>
        </p:nvCxnSpPr>
        <p:spPr>
          <a:xfrm rot="0">
            <a:off x="4838700" y="8242300"/>
            <a:ext cx="7239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Line54"/>
          <p:cNvCxnSpPr/>
          <p:nvPr/>
        </p:nvCxnSpPr>
        <p:spPr>
          <a:xfrm rot="0">
            <a:off x="4838700" y="2006600"/>
            <a:ext cx="0" cy="62357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Line55"/>
          <p:cNvCxnSpPr/>
          <p:nvPr/>
        </p:nvCxnSpPr>
        <p:spPr>
          <a:xfrm rot="0">
            <a:off x="12077700" y="2006600"/>
            <a:ext cx="0" cy="62357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6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>
          <a:xfrm rot="0">
            <a:off x="12306300" y="2006600"/>
            <a:ext cx="6997700" cy="6248400"/>
          </a:xfrm>
          <a:prstGeom prst="rect">
            <a:avLst/>
          </a:prstGeom>
          <a:ln>
            <a:headEnd type="none"/>
            <a:tailEnd type="none"/>
          </a:ln>
        </p:spPr>
      </p:pic>
      <p:cxnSp>
        <p:nvCxnSpPr>
          <p:cNvPr id="57" name="Line57"/>
          <p:cNvCxnSpPr/>
          <p:nvPr/>
        </p:nvCxnSpPr>
        <p:spPr>
          <a:xfrm rot="0">
            <a:off x="12306300" y="2006600"/>
            <a:ext cx="69977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Line58"/>
          <p:cNvCxnSpPr/>
          <p:nvPr/>
        </p:nvCxnSpPr>
        <p:spPr>
          <a:xfrm rot="0">
            <a:off x="12306300" y="8255000"/>
            <a:ext cx="69977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Line59"/>
          <p:cNvCxnSpPr/>
          <p:nvPr/>
        </p:nvCxnSpPr>
        <p:spPr>
          <a:xfrm rot="0">
            <a:off x="12306300" y="2006600"/>
            <a:ext cx="0" cy="62484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Line60"/>
          <p:cNvCxnSpPr/>
          <p:nvPr/>
        </p:nvCxnSpPr>
        <p:spPr>
          <a:xfrm rot="0">
            <a:off x="19304000" y="2006600"/>
            <a:ext cx="0" cy="62484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61"/>
          <p:cNvSpPr>
            <a:spLocks/>
          </p:cNvSpPr>
          <p:nvPr/>
        </p:nvSpPr>
        <p:spPr>
          <a:xfrm rot="0">
            <a:off x="4813300" y="8509000"/>
            <a:ext cx="14478000" cy="3606800"/>
          </a:xfrm>
          <a:prstGeom prst="rect">
            <a:avLst/>
          </a:prstGeom>
          <a:solidFill>
            <a:srgbClr val="000000">
              <a:alpha val="0"/>
            </a:srgbClr>
          </a:solidFill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62" name="Line62"/>
          <p:cNvCxnSpPr/>
          <p:nvPr/>
        </p:nvCxnSpPr>
        <p:spPr>
          <a:xfrm rot="0">
            <a:off x="4813300" y="8509000"/>
            <a:ext cx="14478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Line63"/>
          <p:cNvCxnSpPr/>
          <p:nvPr/>
        </p:nvCxnSpPr>
        <p:spPr>
          <a:xfrm rot="0">
            <a:off x="4813300" y="12115800"/>
            <a:ext cx="14478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Line64"/>
          <p:cNvCxnSpPr/>
          <p:nvPr/>
        </p:nvCxnSpPr>
        <p:spPr>
          <a:xfrm rot="0">
            <a:off x="4813300" y="8509000"/>
            <a:ext cx="0" cy="36068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Line65"/>
          <p:cNvCxnSpPr/>
          <p:nvPr/>
        </p:nvCxnSpPr>
        <p:spPr>
          <a:xfrm rot="0">
            <a:off x="19291300" y="8509000"/>
            <a:ext cx="0" cy="36068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66"/>
          <p:cNvSpPr>
            <a:spLocks/>
          </p:cNvSpPr>
          <p:nvPr/>
        </p:nvSpPr>
        <p:spPr>
          <a:xfrm rot="0">
            <a:off x="5207000" y="8636000"/>
            <a:ext cx="9563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ctr" wrap="square"/>
          <a:lstStyle/>
          <a:p>
            <a:pPr algn="l" defTabSz="914400"/>
            <a:r>
              <a:rPr sz="1600" b="1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﻿Annual Premium Equivalent Performance (APE) by Year and Policy Type</a:t>
            </a:r>
          </a:p>
        </p:txBody>
      </p:sp>
      <p:graphicFrame>
        <p:nvGraphicFramePr>
          <p:cNvPr id="67" name="Table 67"/>
          <p:cNvGraphicFramePr/>
          <p:nvPr/>
        </p:nvGraphicFramePr>
        <p:xfrm rot="0">
          <a:off x="4813300" y="9080500"/>
          <a:ext cx="14439900" cy="23241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87500"/>
                <a:gridCol w="3213100"/>
                <a:gridCol w="3213100"/>
                <a:gridCol w="3213100"/>
                <a:gridCol w="3213100"/>
              </a:tblGrid>
              <a:tr h="406400">
                <a:tc>
                  <a:txBody>
                    <a:bodyPr/>
                    <a:lstStyle/>
                    <a:p>
                      <a:pPr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33867" marR="33867" marT="33867" marB="33867" anchor="t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2021</a:t>
                      </a:r>
                    </a:p>
                  </a:txBody>
                  <a:tcPr marL="101600" marR="101600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2022</a:t>
                      </a:r>
                    </a:p>
                  </a:txBody>
                  <a:tcPr marL="101600" marR="101600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</a:txBody>
                  <a:tcPr marL="101600" marR="101600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101600" marR="101600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 defTabSz="914400"/>
                      <a:r>
                        <a:rPr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Disability</a:t>
                      </a:r>
                    </a:p>
                  </a:txBody>
                  <a:tcPr marL="33867" marR="129121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$0K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$1.5K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B3E7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$60.38K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6ED1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$41.3K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78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 defTabSz="914400"/>
                      <a:r>
                        <a:rPr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Health</a:t>
                      </a:r>
                    </a:p>
                  </a:txBody>
                  <a:tcPr marL="33867" marR="129121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$0K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$3.63K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B3E7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$4.56K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B3E7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$59.02K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78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 defTabSz="914400"/>
                      <a:r>
                        <a:rPr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Home</a:t>
                      </a:r>
                    </a:p>
                  </a:txBody>
                  <a:tcPr marL="33867" marR="129121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$0.42K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B3E7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$0.89K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B3E7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$55.38K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78D4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$122.44K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6ED1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 defTabSz="914400"/>
                      <a:r>
                        <a:rPr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Life</a:t>
                      </a:r>
                    </a:p>
                  </a:txBody>
                  <a:tcPr marL="33867" marR="129121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$0K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$23.16K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A3E2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$58.76K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78D4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$11.17K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B3E7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 defTabSz="914400"/>
                      <a:r>
                        <a:rPr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Travel</a:t>
                      </a:r>
                    </a:p>
                  </a:txBody>
                  <a:tcPr marL="33867" marR="129121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$0K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$16.81K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A3E2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$4.51K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B3E7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00" dirty="0">
                          <a:solidFill>
                            <a:srgbClr val="505D6F"/>
                          </a:solidFill>
                          <a:latin typeface="Arial"/>
                          <a:ea typeface="Arial"/>
                          <a:cs typeface="Arial"/>
                        </a:rPr>
                        <a:t>$11.6K</a:t>
                      </a:r>
                    </a:p>
                  </a:txBody>
                  <a:tcPr marL="33867" marR="33867" marT="33867" marB="33867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  <a:headEnd type="none"/>
                      <a:tailEnd type="none"/>
                    </a:lnB>
                    <a:solidFill>
                      <a:srgbClr val="B3E7FF"/>
                    </a:solidFill>
                  </a:tcPr>
                </a:tc>
              </a:tr>
            </a:tbl>
          </a:graphicData>
        </a:graphic>
      </p:graphicFrame>
      <p:sp>
        <p:nvSpPr>
          <p:cNvPr id="68" name="Rectangle68"/>
          <p:cNvSpPr>
            <a:spLocks/>
          </p:cNvSpPr>
          <p:nvPr/>
        </p:nvSpPr>
        <p:spPr>
          <a:xfrm rot="0">
            <a:off x="1270000" y="12547600"/>
            <a:ext cx="18567400" cy="60113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 rot="0">
            <a:off x="1270000" y="889000"/>
            <a:ext cx="18567400" cy="1124373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3" name="Rectangle3"/>
          <p:cNvSpPr>
            <a:spLocks/>
          </p:cNvSpPr>
          <p:nvPr/>
        </p:nvSpPr>
        <p:spPr>
          <a:xfrm rot="0">
            <a:off x="1270000" y="889000"/>
            <a:ext cx="18567400" cy="66463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4" name="Rectangle4"/>
          <p:cNvSpPr>
            <a:spLocks/>
          </p:cNvSpPr>
          <p:nvPr/>
        </p:nvSpPr>
        <p:spPr>
          <a:xfrm rot="0">
            <a:off x="1270000" y="889000"/>
            <a:ext cx="18161000" cy="673100"/>
          </a:xfrm>
          <a:prstGeom prst="rect">
            <a:avLst/>
          </a:prstGeom>
          <a:solidFill>
            <a:srgbClr val="555B63"/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5" name="Rectangle5"/>
          <p:cNvSpPr>
            <a:spLocks/>
          </p:cNvSpPr>
          <p:nvPr/>
        </p:nvSpPr>
        <p:spPr>
          <a:xfrm rot="0">
            <a:off x="1384300" y="1066800"/>
            <a:ext cx="4864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2121" rIns="33867" bIns="33867" anchor="ctr" wrap="square"/>
          <a:lstStyle/>
          <a:p>
            <a:pPr algn="l" defTabSz="914400"/>
            <a:r>
              <a:rPr sz="19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Insurance Performace Report</a:t>
            </a:r>
            <a:r>
              <a:rPr sz="19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﻿</a:t>
            </a:r>
          </a:p>
        </p:txBody>
      </p:sp>
      <p:sp>
        <p:nvSpPr>
          <p:cNvPr id="6" name="Rectangle6"/>
          <p:cNvSpPr>
            <a:spLocks/>
          </p:cNvSpPr>
          <p:nvPr/>
        </p:nvSpPr>
        <p:spPr>
          <a:xfrm rot="0">
            <a:off x="1270000" y="1562100"/>
            <a:ext cx="18567400" cy="1098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>
          <a:xfrm rot="0">
            <a:off x="10439400" y="1562100"/>
            <a:ext cx="8839200" cy="6223000"/>
          </a:xfrm>
          <a:prstGeom prst="rect">
            <a:avLst/>
          </a:prstGeom>
          <a:ln>
            <a:headEnd type="none"/>
            <a:tailEnd type="none"/>
          </a:ln>
        </p:spPr>
      </p:pic>
      <p:cxnSp>
        <p:nvCxnSpPr>
          <p:cNvPr id="8" name="Line8"/>
          <p:cNvCxnSpPr/>
          <p:nvPr/>
        </p:nvCxnSpPr>
        <p:spPr>
          <a:xfrm rot="0">
            <a:off x="10439400" y="1562100"/>
            <a:ext cx="88392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ne9"/>
          <p:cNvCxnSpPr/>
          <p:nvPr/>
        </p:nvCxnSpPr>
        <p:spPr>
          <a:xfrm rot="0">
            <a:off x="10439400" y="7785100"/>
            <a:ext cx="88392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ne10"/>
          <p:cNvCxnSpPr/>
          <p:nvPr/>
        </p:nvCxnSpPr>
        <p:spPr>
          <a:xfrm rot="0">
            <a:off x="10439400" y="1562100"/>
            <a:ext cx="0" cy="6223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ne11"/>
          <p:cNvCxnSpPr/>
          <p:nvPr/>
        </p:nvCxnSpPr>
        <p:spPr>
          <a:xfrm rot="0">
            <a:off x="19278600" y="1562100"/>
            <a:ext cx="0" cy="6223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>
          <a:xfrm rot="0">
            <a:off x="1384300" y="1562100"/>
            <a:ext cx="8864600" cy="6223000"/>
          </a:xfrm>
          <a:prstGeom prst="rect">
            <a:avLst/>
          </a:prstGeom>
          <a:ln>
            <a:headEnd type="none"/>
            <a:tailEnd type="none"/>
          </a:ln>
        </p:spPr>
      </p:pic>
      <p:cxnSp>
        <p:nvCxnSpPr>
          <p:cNvPr id="13" name="Line13"/>
          <p:cNvCxnSpPr/>
          <p:nvPr/>
        </p:nvCxnSpPr>
        <p:spPr>
          <a:xfrm rot="0">
            <a:off x="1384300" y="1562100"/>
            <a:ext cx="88646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ne14"/>
          <p:cNvCxnSpPr/>
          <p:nvPr/>
        </p:nvCxnSpPr>
        <p:spPr>
          <a:xfrm rot="0">
            <a:off x="1384300" y="7785100"/>
            <a:ext cx="88646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ine15"/>
          <p:cNvCxnSpPr/>
          <p:nvPr/>
        </p:nvCxnSpPr>
        <p:spPr>
          <a:xfrm rot="0">
            <a:off x="1384300" y="1562100"/>
            <a:ext cx="0" cy="6223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Line16"/>
          <p:cNvCxnSpPr/>
          <p:nvPr/>
        </p:nvCxnSpPr>
        <p:spPr>
          <a:xfrm rot="0">
            <a:off x="10248900" y="1562100"/>
            <a:ext cx="0" cy="6223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17"/>
          <p:cNvSpPr>
            <a:spLocks/>
          </p:cNvSpPr>
          <p:nvPr/>
        </p:nvSpPr>
        <p:spPr>
          <a:xfrm rot="0">
            <a:off x="10426700" y="8216900"/>
            <a:ext cx="4356100" cy="4127500"/>
          </a:xfrm>
          <a:prstGeom prst="rect">
            <a:avLst/>
          </a:prstGeom>
          <a:solidFill>
            <a:srgbClr val="000000">
              <a:alpha val="0"/>
            </a:srgbClr>
          </a:solidFill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18" name="Line18"/>
          <p:cNvCxnSpPr/>
          <p:nvPr/>
        </p:nvCxnSpPr>
        <p:spPr>
          <a:xfrm rot="0">
            <a:off x="10426700" y="8216900"/>
            <a:ext cx="43561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Line19"/>
          <p:cNvCxnSpPr/>
          <p:nvPr/>
        </p:nvCxnSpPr>
        <p:spPr>
          <a:xfrm rot="0">
            <a:off x="10426700" y="12344400"/>
            <a:ext cx="43561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ne20"/>
          <p:cNvCxnSpPr/>
          <p:nvPr/>
        </p:nvCxnSpPr>
        <p:spPr>
          <a:xfrm rot="0">
            <a:off x="10426700" y="8216900"/>
            <a:ext cx="0" cy="41275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Line21"/>
          <p:cNvCxnSpPr/>
          <p:nvPr/>
        </p:nvCxnSpPr>
        <p:spPr>
          <a:xfrm rot="0">
            <a:off x="14782800" y="8216900"/>
            <a:ext cx="0" cy="41275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22"/>
          <p:cNvSpPr>
            <a:spLocks/>
          </p:cNvSpPr>
          <p:nvPr/>
        </p:nvSpPr>
        <p:spPr>
          <a:xfrm rot="0">
            <a:off x="10439400" y="8382000"/>
            <a:ext cx="4292600" cy="63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7000" tIns="33867" rIns="33867" bIns="33867" anchor="ctr" wrap="square"/>
          <a:lstStyle/>
          <a:p>
            <a:pPr algn="l" defTabSz="914400"/>
            <a:r>
              <a:rPr sz="1600" b="1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Policy Lapse Rate﻿</a:t>
            </a:r>
          </a:p>
        </p:txBody>
      </p:sp>
      <p:sp>
        <p:nvSpPr>
          <p:cNvPr id="23" name="Rectangle23"/>
          <p:cNvSpPr>
            <a:spLocks/>
          </p:cNvSpPr>
          <p:nvPr/>
        </p:nvSpPr>
        <p:spPr>
          <a:xfrm rot="0">
            <a:off x="10439400" y="9029700"/>
            <a:ext cx="4292600" cy="3175000"/>
          </a:xfrm>
          <a:prstGeom prst="rect">
            <a:avLst/>
          </a:prstGeom>
          <a:solidFill>
            <a:srgbClr val="FFFFFF"/>
          </a:solidFill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>
            <a:lum/>
          </a:blip>
          <a:srcRect/>
          <a:stretch>
            <a:fillRect/>
          </a:stretch>
        </p:blipFill>
        <p:spPr>
          <a:xfrm rot="0">
            <a:off x="10439400" y="9029700"/>
            <a:ext cx="4292600" cy="3175000"/>
          </a:xfrm>
          <a:prstGeom prst="rect">
            <a:avLst/>
          </a:prstGeom>
          <a:ln>
            <a:solidFill>
              <a:srgbClr val="FFFFFF">
                <a:alpha val="100000"/>
              </a:srgbClr>
            </a:solidFill>
            <a:headEnd type="none"/>
            <a:tailEnd type="none"/>
          </a:ln>
        </p:spPr>
      </p:pic>
      <p:sp>
        <p:nvSpPr>
          <p:cNvPr id="25" name="Rectangle25"/>
          <p:cNvSpPr>
            <a:spLocks/>
          </p:cNvSpPr>
          <p:nvPr/>
        </p:nvSpPr>
        <p:spPr>
          <a:xfrm rot="0">
            <a:off x="1384300" y="8216900"/>
            <a:ext cx="4330700" cy="4127500"/>
          </a:xfrm>
          <a:prstGeom prst="rect">
            <a:avLst/>
          </a:prstGeom>
          <a:solidFill>
            <a:srgbClr val="000000">
              <a:alpha val="0"/>
            </a:srgbClr>
          </a:solidFill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26" name="Line26"/>
          <p:cNvCxnSpPr/>
          <p:nvPr/>
        </p:nvCxnSpPr>
        <p:spPr>
          <a:xfrm rot="0">
            <a:off x="1384300" y="8216900"/>
            <a:ext cx="43307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Line27"/>
          <p:cNvCxnSpPr/>
          <p:nvPr/>
        </p:nvCxnSpPr>
        <p:spPr>
          <a:xfrm rot="0">
            <a:off x="1384300" y="12344400"/>
            <a:ext cx="43307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Line28"/>
          <p:cNvCxnSpPr/>
          <p:nvPr/>
        </p:nvCxnSpPr>
        <p:spPr>
          <a:xfrm rot="0">
            <a:off x="1384300" y="8216900"/>
            <a:ext cx="0" cy="41275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Line29"/>
          <p:cNvCxnSpPr/>
          <p:nvPr/>
        </p:nvCxnSpPr>
        <p:spPr>
          <a:xfrm rot="0">
            <a:off x="5715000" y="8216900"/>
            <a:ext cx="0" cy="41275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30"/>
          <p:cNvSpPr>
            <a:spLocks/>
          </p:cNvSpPr>
          <p:nvPr/>
        </p:nvSpPr>
        <p:spPr>
          <a:xfrm rot="0">
            <a:off x="1397000" y="8394700"/>
            <a:ext cx="4292600" cy="63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7000" tIns="33867" rIns="33867" bIns="33867" anchor="ctr" wrap="square"/>
          <a:lstStyle/>
          <a:p>
            <a:pPr algn="l" defTabSz="914400"/>
            <a:r>
              <a:rPr sz="1600" b="1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﻿Customer Retention Rate</a:t>
            </a:r>
            <a:r>
              <a:rPr sz="1600" b="1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﻿</a:t>
            </a:r>
          </a:p>
        </p:txBody>
      </p:sp>
      <p:sp>
        <p:nvSpPr>
          <p:cNvPr id="31" name="Rectangle31"/>
          <p:cNvSpPr>
            <a:spLocks/>
          </p:cNvSpPr>
          <p:nvPr/>
        </p:nvSpPr>
        <p:spPr>
          <a:xfrm rot="0">
            <a:off x="1397000" y="9029700"/>
            <a:ext cx="4292600" cy="3175000"/>
          </a:xfrm>
          <a:prstGeom prst="rect">
            <a:avLst/>
          </a:prstGeom>
          <a:solidFill>
            <a:srgbClr val="FFFFFF"/>
          </a:solidFill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5">
            <a:lum/>
          </a:blip>
          <a:srcRect/>
          <a:stretch>
            <a:fillRect/>
          </a:stretch>
        </p:blipFill>
        <p:spPr>
          <a:xfrm rot="0">
            <a:off x="1397000" y="9029700"/>
            <a:ext cx="4292600" cy="3175000"/>
          </a:xfrm>
          <a:prstGeom prst="rect">
            <a:avLst/>
          </a:prstGeom>
          <a:ln>
            <a:solidFill>
              <a:srgbClr val="FFFFFF">
                <a:alpha val="100000"/>
              </a:srgbClr>
            </a:solidFill>
            <a:headEnd type="none"/>
            <a:tailEnd type="none"/>
          </a:ln>
        </p:spPr>
      </p:pic>
      <p:sp>
        <p:nvSpPr>
          <p:cNvPr id="33" name="Rectangle33"/>
          <p:cNvSpPr>
            <a:spLocks/>
          </p:cNvSpPr>
          <p:nvPr/>
        </p:nvSpPr>
        <p:spPr>
          <a:xfrm rot="0">
            <a:off x="5892800" y="8216900"/>
            <a:ext cx="4343400" cy="4127500"/>
          </a:xfrm>
          <a:prstGeom prst="rect">
            <a:avLst/>
          </a:prstGeom>
          <a:solidFill>
            <a:srgbClr val="000000">
              <a:alpha val="0"/>
            </a:srgbClr>
          </a:solidFill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34" name="Line34"/>
          <p:cNvCxnSpPr/>
          <p:nvPr/>
        </p:nvCxnSpPr>
        <p:spPr>
          <a:xfrm rot="0">
            <a:off x="5892800" y="8216900"/>
            <a:ext cx="43434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Line35"/>
          <p:cNvCxnSpPr/>
          <p:nvPr/>
        </p:nvCxnSpPr>
        <p:spPr>
          <a:xfrm rot="0">
            <a:off x="5892800" y="12344400"/>
            <a:ext cx="43434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Line36"/>
          <p:cNvCxnSpPr/>
          <p:nvPr/>
        </p:nvCxnSpPr>
        <p:spPr>
          <a:xfrm rot="0">
            <a:off x="5892800" y="8216900"/>
            <a:ext cx="0" cy="41275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ine37"/>
          <p:cNvCxnSpPr/>
          <p:nvPr/>
        </p:nvCxnSpPr>
        <p:spPr>
          <a:xfrm rot="0">
            <a:off x="10236200" y="8216900"/>
            <a:ext cx="0" cy="41275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38"/>
          <p:cNvSpPr>
            <a:spLocks/>
          </p:cNvSpPr>
          <p:nvPr/>
        </p:nvSpPr>
        <p:spPr>
          <a:xfrm rot="0">
            <a:off x="5905500" y="8382000"/>
            <a:ext cx="4292600" cy="63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7000" tIns="33867" rIns="33867" bIns="33867" anchor="ctr" wrap="square"/>
          <a:lstStyle/>
          <a:p>
            <a:pPr algn="l" defTabSz="914400"/>
            <a:r>
              <a:rPr sz="1600" b="1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Policy Renewal Rate﻿</a:t>
            </a:r>
          </a:p>
        </p:txBody>
      </p:sp>
      <p:sp>
        <p:nvSpPr>
          <p:cNvPr id="39" name="Rectangle39"/>
          <p:cNvSpPr>
            <a:spLocks/>
          </p:cNvSpPr>
          <p:nvPr/>
        </p:nvSpPr>
        <p:spPr>
          <a:xfrm rot="0">
            <a:off x="5905500" y="9055100"/>
            <a:ext cx="4292600" cy="3175000"/>
          </a:xfrm>
          <a:prstGeom prst="rect">
            <a:avLst/>
          </a:prstGeom>
          <a:solidFill>
            <a:srgbClr val="FFFFFF"/>
          </a:solidFill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6">
            <a:lum/>
          </a:blip>
          <a:srcRect/>
          <a:stretch>
            <a:fillRect/>
          </a:stretch>
        </p:blipFill>
        <p:spPr>
          <a:xfrm rot="0">
            <a:off x="5905500" y="9055100"/>
            <a:ext cx="4292600" cy="3175000"/>
          </a:xfrm>
          <a:prstGeom prst="rect">
            <a:avLst/>
          </a:prstGeom>
          <a:ln>
            <a:solidFill>
              <a:srgbClr val="FFFFFF">
                <a:alpha val="100000"/>
              </a:srgbClr>
            </a:solidFill>
            <a:headEnd type="none"/>
            <a:tailEnd type="none"/>
          </a:ln>
        </p:spPr>
      </p:pic>
      <p:sp>
        <p:nvSpPr>
          <p:cNvPr id="41" name="Rectangle41"/>
          <p:cNvSpPr>
            <a:spLocks/>
          </p:cNvSpPr>
          <p:nvPr/>
        </p:nvSpPr>
        <p:spPr>
          <a:xfrm rot="0">
            <a:off x="14960600" y="8216900"/>
            <a:ext cx="4356100" cy="4127500"/>
          </a:xfrm>
          <a:prstGeom prst="rect">
            <a:avLst/>
          </a:prstGeom>
          <a:solidFill>
            <a:srgbClr val="000000">
              <a:alpha val="0"/>
            </a:srgbClr>
          </a:solidFill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42" name="Line42"/>
          <p:cNvCxnSpPr/>
          <p:nvPr/>
        </p:nvCxnSpPr>
        <p:spPr>
          <a:xfrm rot="0">
            <a:off x="14960600" y="8216900"/>
            <a:ext cx="43561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Line43"/>
          <p:cNvCxnSpPr/>
          <p:nvPr/>
        </p:nvCxnSpPr>
        <p:spPr>
          <a:xfrm rot="0">
            <a:off x="14960600" y="12344400"/>
            <a:ext cx="43561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Line44"/>
          <p:cNvCxnSpPr/>
          <p:nvPr/>
        </p:nvCxnSpPr>
        <p:spPr>
          <a:xfrm rot="0">
            <a:off x="14960600" y="8216900"/>
            <a:ext cx="0" cy="41275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Line45"/>
          <p:cNvCxnSpPr/>
          <p:nvPr/>
        </p:nvCxnSpPr>
        <p:spPr>
          <a:xfrm rot="0">
            <a:off x="19316700" y="8216900"/>
            <a:ext cx="0" cy="41275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46"/>
          <p:cNvSpPr>
            <a:spLocks/>
          </p:cNvSpPr>
          <p:nvPr/>
        </p:nvSpPr>
        <p:spPr>
          <a:xfrm rot="0">
            <a:off x="14973300" y="8382000"/>
            <a:ext cx="4292600" cy="63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7000" tIns="33867" rIns="33867" bIns="33867" anchor="ctr" wrap="square"/>
          <a:lstStyle/>
          <a:p>
            <a:pPr algn="l" defTabSz="914400"/>
            <a:r>
              <a:rPr sz="1600" b="1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﻿Net Promoter Score (NPS)</a:t>
            </a:r>
            <a:r>
              <a:rPr sz="1600" b="1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﻿</a:t>
            </a:r>
          </a:p>
        </p:txBody>
      </p:sp>
      <p:sp>
        <p:nvSpPr>
          <p:cNvPr id="47" name="Rectangle47"/>
          <p:cNvSpPr>
            <a:spLocks/>
          </p:cNvSpPr>
          <p:nvPr/>
        </p:nvSpPr>
        <p:spPr>
          <a:xfrm rot="0">
            <a:off x="14973300" y="9029700"/>
            <a:ext cx="4292600" cy="3175000"/>
          </a:xfrm>
          <a:prstGeom prst="rect">
            <a:avLst/>
          </a:prstGeom>
          <a:solidFill>
            <a:srgbClr val="FFFFFF"/>
          </a:solidFill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7">
            <a:lum/>
          </a:blip>
          <a:srcRect/>
          <a:stretch>
            <a:fillRect/>
          </a:stretch>
        </p:blipFill>
        <p:spPr>
          <a:xfrm rot="0">
            <a:off x="14973300" y="9029700"/>
            <a:ext cx="4292600" cy="3175000"/>
          </a:xfrm>
          <a:prstGeom prst="rect">
            <a:avLst/>
          </a:prstGeom>
          <a:ln>
            <a:solidFill>
              <a:srgbClr val="FFFFFF">
                <a:alpha val="100000"/>
              </a:srgbClr>
            </a:solidFill>
            <a:headEnd type="none"/>
            <a:tailEnd type="none"/>
          </a:ln>
        </p:spPr>
      </p:pic>
      <p:sp>
        <p:nvSpPr>
          <p:cNvPr id="49" name="Rectangle49"/>
          <p:cNvSpPr>
            <a:spLocks/>
          </p:cNvSpPr>
          <p:nvPr/>
        </p:nvSpPr>
        <p:spPr>
          <a:xfrm rot="0">
            <a:off x="1270000" y="12547600"/>
            <a:ext cx="18567400" cy="60113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 rot="0">
            <a:off x="1270000" y="889000"/>
            <a:ext cx="18567400" cy="1124373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3" name="Rectangle3"/>
          <p:cNvSpPr>
            <a:spLocks/>
          </p:cNvSpPr>
          <p:nvPr/>
        </p:nvSpPr>
        <p:spPr>
          <a:xfrm rot="0">
            <a:off x="1270000" y="889000"/>
            <a:ext cx="18567400" cy="66463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4" name="Rectangle4"/>
          <p:cNvSpPr>
            <a:spLocks/>
          </p:cNvSpPr>
          <p:nvPr/>
        </p:nvSpPr>
        <p:spPr>
          <a:xfrm rot="0">
            <a:off x="1270000" y="889000"/>
            <a:ext cx="18161000" cy="673100"/>
          </a:xfrm>
          <a:prstGeom prst="rect">
            <a:avLst/>
          </a:prstGeom>
          <a:solidFill>
            <a:srgbClr val="555B63"/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5" name="Rectangle5"/>
          <p:cNvSpPr>
            <a:spLocks/>
          </p:cNvSpPr>
          <p:nvPr/>
        </p:nvSpPr>
        <p:spPr>
          <a:xfrm rot="0">
            <a:off x="1384300" y="1066800"/>
            <a:ext cx="4864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2121" rIns="33867" bIns="33867" anchor="ctr" wrap="square"/>
          <a:lstStyle/>
          <a:p>
            <a:pPr algn="l" defTabSz="914400"/>
            <a:r>
              <a:rPr sz="19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Insurance Performace Report</a:t>
            </a:r>
            <a:r>
              <a:rPr sz="19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﻿</a:t>
            </a:r>
          </a:p>
        </p:txBody>
      </p:sp>
      <p:sp>
        <p:nvSpPr>
          <p:cNvPr id="6" name="Rectangle6"/>
          <p:cNvSpPr>
            <a:spLocks/>
          </p:cNvSpPr>
          <p:nvPr/>
        </p:nvSpPr>
        <p:spPr>
          <a:xfrm rot="0">
            <a:off x="1270000" y="1562100"/>
            <a:ext cx="18567400" cy="1098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>
          <a:xfrm rot="0">
            <a:off x="1384300" y="1663700"/>
            <a:ext cx="5842000" cy="4953000"/>
          </a:xfrm>
          <a:prstGeom prst="rect">
            <a:avLst/>
          </a:prstGeom>
          <a:ln>
            <a:headEnd type="none"/>
            <a:tailEnd type="none"/>
          </a:ln>
        </p:spPr>
      </p:pic>
      <p:cxnSp>
        <p:nvCxnSpPr>
          <p:cNvPr id="8" name="Line8"/>
          <p:cNvCxnSpPr/>
          <p:nvPr/>
        </p:nvCxnSpPr>
        <p:spPr>
          <a:xfrm rot="0">
            <a:off x="1384300" y="1663700"/>
            <a:ext cx="5842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ne9"/>
          <p:cNvCxnSpPr/>
          <p:nvPr/>
        </p:nvCxnSpPr>
        <p:spPr>
          <a:xfrm rot="0">
            <a:off x="1384300" y="6616700"/>
            <a:ext cx="58420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ne10"/>
          <p:cNvCxnSpPr/>
          <p:nvPr/>
        </p:nvCxnSpPr>
        <p:spPr>
          <a:xfrm rot="0">
            <a:off x="1384300" y="1663700"/>
            <a:ext cx="0" cy="4953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ne11"/>
          <p:cNvCxnSpPr/>
          <p:nvPr/>
        </p:nvCxnSpPr>
        <p:spPr>
          <a:xfrm rot="0">
            <a:off x="7226300" y="1663700"/>
            <a:ext cx="0" cy="49530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12"/>
          <p:cNvSpPr>
            <a:spLocks/>
          </p:cNvSpPr>
          <p:nvPr/>
        </p:nvSpPr>
        <p:spPr>
          <a:xfrm rot="0">
            <a:off x="7327900" y="1663700"/>
            <a:ext cx="11976100" cy="4940300"/>
          </a:xfrm>
          <a:prstGeom prst="rect">
            <a:avLst/>
          </a:prstGeom>
          <a:solidFill>
            <a:srgbClr val="000000">
              <a:alpha val="0"/>
            </a:srgbClr>
          </a:solidFill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13" name="Line13"/>
          <p:cNvCxnSpPr/>
          <p:nvPr/>
        </p:nvCxnSpPr>
        <p:spPr>
          <a:xfrm rot="0">
            <a:off x="7327900" y="1663700"/>
            <a:ext cx="119761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ne14"/>
          <p:cNvCxnSpPr/>
          <p:nvPr/>
        </p:nvCxnSpPr>
        <p:spPr>
          <a:xfrm rot="0">
            <a:off x="7327900" y="6604000"/>
            <a:ext cx="11976100" cy="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ine15"/>
          <p:cNvCxnSpPr/>
          <p:nvPr/>
        </p:nvCxnSpPr>
        <p:spPr>
          <a:xfrm rot="0">
            <a:off x="7327900" y="1663700"/>
            <a:ext cx="0" cy="49403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Line16"/>
          <p:cNvCxnSpPr/>
          <p:nvPr/>
        </p:nvCxnSpPr>
        <p:spPr>
          <a:xfrm rot="0">
            <a:off x="19304000" y="1663700"/>
            <a:ext cx="0" cy="4940300"/>
          </a:xfrm>
          <a:prstGeom prst="line">
            <a:avLst/>
          </a:prstGeom>
          <a:ln w="16933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17"/>
          <p:cNvSpPr>
            <a:spLocks/>
          </p:cNvSpPr>
          <p:nvPr/>
        </p:nvSpPr>
        <p:spPr>
          <a:xfrm rot="0">
            <a:off x="7518400" y="1727200"/>
            <a:ext cx="6083300" cy="63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8321" tIns="33867" rIns="33867" bIns="33867" anchor="ctr" wrap="square"/>
          <a:lstStyle/>
          <a:p>
            <a:pPr algn="l" defTabSz="914400"/>
            <a:r>
              <a:rPr sz="1600" b="1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﻿Insurance Performance Ratios</a:t>
            </a:r>
          </a:p>
        </p:txBody>
      </p:sp>
      <p:graphicFrame>
        <p:nvGraphicFramePr>
          <p:cNvPr id="18" name="Table 18"/>
          <p:cNvGraphicFramePr/>
          <p:nvPr/>
        </p:nvGraphicFramePr>
        <p:xfrm rot="0">
          <a:off x="7518400" y="2463800"/>
          <a:ext cx="11722100" cy="12319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78000"/>
                <a:gridCol w="2197100"/>
                <a:gridCol w="1117600"/>
                <a:gridCol w="1422400"/>
                <a:gridCol w="1117600"/>
                <a:gridCol w="2311400"/>
                <a:gridCol w="1778000"/>
              </a:tblGrid>
              <a:tr h="622300">
                <a:tc>
                  <a:txBody>
                    <a:bodyPr/>
                    <a:lstStyle/>
                    <a:p>
                      <a:pPr defTabSz="914400"/>
                      <a:r>
                        <a:rPr sz="1333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Policy Type</a:t>
                      </a:r>
                    </a:p>
                  </a:txBody>
                  <a:tcPr marL="127000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E6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Claim Settlement Ratio</a:t>
                      </a:r>
                    </a:p>
                  </a:txBody>
                  <a:tcPr marL="33867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E6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Claim Ratio</a:t>
                      </a:r>
                    </a:p>
                  </a:txBody>
                  <a:tcPr marL="33867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E6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Expense Ratio</a:t>
                      </a:r>
                    </a:p>
                  </a:txBody>
                  <a:tcPr marL="33867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E6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Loss Ratio</a:t>
                      </a:r>
                    </a:p>
                  </a:txBody>
                  <a:tcPr marL="33867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E6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Underwriting Loss Ratio</a:t>
                      </a:r>
                    </a:p>
                  </a:txBody>
                  <a:tcPr marL="33867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E6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Combined Ratio</a:t>
                      </a:r>
                    </a:p>
                  </a:txBody>
                  <a:tcPr marL="33867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E6F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Home</a:t>
                      </a:r>
                    </a:p>
                  </a:txBody>
                  <a:tcPr marL="127000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dirty="0">
                          <a:solidFill>
                            <a:srgbClr val="05950A"/>
                          </a:solidFill>
                          <a:latin typeface="Arial"/>
                          <a:ea typeface="Arial"/>
                          <a:cs typeface="Arial"/>
                        </a:rPr>
                        <a:t>100.00 %</a:t>
                      </a:r>
                    </a:p>
                  </a:txBody>
                  <a:tcPr marL="33867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dirty="0">
                          <a:solidFill>
                            <a:srgbClr val="05950A"/>
                          </a:solidFill>
                          <a:latin typeface="Arial"/>
                          <a:ea typeface="Arial"/>
                          <a:cs typeface="Arial"/>
                        </a:rPr>
                        <a:t>0.27%</a:t>
                      </a:r>
                    </a:p>
                  </a:txBody>
                  <a:tcPr marL="33867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dirty="0">
                          <a:solidFill>
                            <a:srgbClr val="05950A"/>
                          </a:solidFill>
                          <a:latin typeface="Arial"/>
                          <a:ea typeface="Arial"/>
                          <a:cs typeface="Arial"/>
                        </a:rPr>
                        <a:t>0.45%</a:t>
                      </a:r>
                    </a:p>
                  </a:txBody>
                  <a:tcPr marL="33867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5950A"/>
                          </a:solidFill>
                          <a:latin typeface="Arial"/>
                          <a:ea typeface="Arial"/>
                          <a:cs typeface="Arial"/>
                        </a:rPr>
                        <a:t>0.27%</a:t>
                      </a:r>
                    </a:p>
                  </a:txBody>
                  <a:tcPr marL="33867" marR="127000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dirty="0">
                          <a:solidFill>
                            <a:srgbClr val="B50B02"/>
                          </a:solidFill>
                          <a:latin typeface="Arial"/>
                          <a:ea typeface="Arial"/>
                          <a:cs typeface="Arial"/>
                        </a:rPr>
                        <a:t>94.85%</a:t>
                      </a:r>
                    </a:p>
                  </a:txBody>
                  <a:tcPr marL="33867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333" dirty="0">
                          <a:solidFill>
                            <a:srgbClr val="05950A"/>
                          </a:solidFill>
                          <a:latin typeface="Arial"/>
                          <a:ea typeface="Arial"/>
                          <a:cs typeface="Arial"/>
                        </a:rPr>
                        <a:t>0.01%</a:t>
                      </a:r>
                    </a:p>
                  </a:txBody>
                  <a:tcPr marL="33867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9" name="Rectangle19"/>
          <p:cNvSpPr>
            <a:spLocks/>
          </p:cNvSpPr>
          <p:nvPr/>
        </p:nvSpPr>
        <p:spPr>
          <a:xfrm rot="0">
            <a:off x="1270000" y="12547600"/>
            <a:ext cx="18567400" cy="60113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Essential Presentation</Application>
  <Characters>0</Characters>
  <Lines>0</Lines>
  <MMClips>0</MMClips>
  <Notes>0</Notes>
  <Pages>0</Pages>
  <Paragraphs>0</Paragraphs>
  <HiddenSlides>0</HiddenSlides>
  <LinksUpToDate>false</LinksUpToDate>
  <ScaleCrop>false</ScaleCrop>
  <Slides>0</Slides>
  <TotalTime>0</TotalTime>
  <Words>0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terms:modified xsi:type="dcterms:W3CDTF">2025-06-09T05:25:30Z</dcterms:modified>
</cp:coreProperties>
</file>