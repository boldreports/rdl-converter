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700003" cy="10795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2"/>
          <p:cNvSpPr>
            <a:spLocks/>
          </p:cNvSpPr>
          <p:nvPr/>
        </p:nvSpPr>
        <p:spPr>
          <a:xfrm rot="0">
            <a:off x="609601" y="609601"/>
            <a:ext cx="11480802" cy="956733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609601" y="609601"/>
            <a:ext cx="11480801" cy="626534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4" name="Rectangle4"/>
          <p:cNvSpPr>
            <a:spLocks/>
          </p:cNvSpPr>
          <p:nvPr/>
        </p:nvSpPr>
        <p:spPr>
          <a:xfrm rot="0">
            <a:off x="609601" y="609601"/>
            <a:ext cx="11455400" cy="6350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5" name="Rectangle5"/>
          <p:cNvSpPr>
            <a:spLocks/>
          </p:cNvSpPr>
          <p:nvPr/>
        </p:nvSpPr>
        <p:spPr>
          <a:xfrm rot="0">
            <a:off x="736601" y="736601"/>
            <a:ext cx="5321300" cy="381000"/>
          </a:xfrm>
          <a:prstGeom prst="rect">
            <a:avLst/>
          </a:prstGeom>
          <a:solidFill>
            <a:srgbClr val="555B63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t" wrap="square"/>
          <a:lstStyle/>
          <a:p>
            <a:pPr defTabSz="914400"/>
            <a:r>
              <a:rPr sz="18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Patient Experience Analysis (Random data)</a:t>
            </a:r>
          </a:p>
        </p:txBody>
      </p:sp>
      <p:sp>
        <p:nvSpPr>
          <p:cNvPr id="6" name="Rectangle6"/>
          <p:cNvSpPr>
            <a:spLocks/>
          </p:cNvSpPr>
          <p:nvPr/>
        </p:nvSpPr>
        <p:spPr>
          <a:xfrm rot="0">
            <a:off x="609601" y="1244601"/>
            <a:ext cx="11480802" cy="8940800"/>
          </a:xfrm>
          <a:prstGeom prst="rect">
            <a:avLst/>
          </a:prstGeom>
          <a:solidFill>
            <a:srgbClr val="F9F9F9"/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sp>
        <p:nvSpPr>
          <p:cNvPr id="7" name="Rectangle7"/>
          <p:cNvSpPr>
            <a:spLocks/>
          </p:cNvSpPr>
          <p:nvPr/>
        </p:nvSpPr>
        <p:spPr>
          <a:xfrm rot="0">
            <a:off x="736601" y="1371601"/>
            <a:ext cx="4699000" cy="4191000"/>
          </a:xfrm>
          <a:prstGeom prst="rect">
            <a:avLst/>
          </a:prstGeom>
          <a:solidFill>
            <a:srgbClr val="FFFFFF"/>
          </a:solidFill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8" name="Line8"/>
          <p:cNvCxnSpPr/>
          <p:nvPr/>
        </p:nvCxnSpPr>
        <p:spPr>
          <a:xfrm rot="0">
            <a:off x="736601" y="1371601"/>
            <a:ext cx="46990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ne9"/>
          <p:cNvCxnSpPr/>
          <p:nvPr/>
        </p:nvCxnSpPr>
        <p:spPr>
          <a:xfrm rot="0">
            <a:off x="736601" y="5562601"/>
            <a:ext cx="46990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10"/>
          <p:cNvCxnSpPr/>
          <p:nvPr/>
        </p:nvCxnSpPr>
        <p:spPr>
          <a:xfrm rot="0">
            <a:off x="736601" y="1371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ne11"/>
          <p:cNvCxnSpPr/>
          <p:nvPr/>
        </p:nvCxnSpPr>
        <p:spPr>
          <a:xfrm rot="0">
            <a:off x="5435601" y="1371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12"/>
          <p:cNvSpPr>
            <a:spLocks/>
          </p:cNvSpPr>
          <p:nvPr/>
        </p:nvSpPr>
        <p:spPr>
          <a:xfrm rot="0">
            <a:off x="800101" y="1498601"/>
            <a:ext cx="2971800" cy="31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t" wrap="square"/>
          <a:lstStyle/>
          <a:p>
            <a:pPr defTabSz="914400"/>
            <a:r>
              <a:rPr sz="1400" dirty="0">
                <a:solidFill>
                  <a:srgbClr val="604B7A"/>
                </a:solidFill>
                <a:latin typeface="Segoe UI"/>
                <a:ea typeface="Segoe UI"/>
                <a:cs typeface="Segoe UI"/>
              </a:rPr>
              <a:t>Patient Satisfaction by Department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6601" y="1943101"/>
            <a:ext cx="4699000" cy="36195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14" name="Rectangle14"/>
          <p:cNvSpPr>
            <a:spLocks/>
          </p:cNvSpPr>
          <p:nvPr/>
        </p:nvSpPr>
        <p:spPr>
          <a:xfrm rot="0">
            <a:off x="5562601" y="1371601"/>
            <a:ext cx="6375400" cy="4216400"/>
          </a:xfrm>
          <a:prstGeom prst="rect">
            <a:avLst/>
          </a:prstGeom>
          <a:solidFill>
            <a:srgbClr val="FFFFFF"/>
          </a:solidFill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15" name="Line15"/>
          <p:cNvCxnSpPr/>
          <p:nvPr/>
        </p:nvCxnSpPr>
        <p:spPr>
          <a:xfrm rot="0">
            <a:off x="5562601" y="1371601"/>
            <a:ext cx="63754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e16"/>
          <p:cNvCxnSpPr/>
          <p:nvPr/>
        </p:nvCxnSpPr>
        <p:spPr>
          <a:xfrm rot="0">
            <a:off x="5562601" y="5588001"/>
            <a:ext cx="63754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17"/>
          <p:cNvCxnSpPr/>
          <p:nvPr/>
        </p:nvCxnSpPr>
        <p:spPr>
          <a:xfrm rot="0">
            <a:off x="5562601" y="1371601"/>
            <a:ext cx="0" cy="42164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18"/>
          <p:cNvCxnSpPr/>
          <p:nvPr/>
        </p:nvCxnSpPr>
        <p:spPr>
          <a:xfrm rot="0">
            <a:off x="11938001" y="1371601"/>
            <a:ext cx="0" cy="42164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19"/>
          <p:cNvSpPr>
            <a:spLocks/>
          </p:cNvSpPr>
          <p:nvPr/>
        </p:nvSpPr>
        <p:spPr>
          <a:xfrm rot="0">
            <a:off x="5626101" y="1498601"/>
            <a:ext cx="3289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t" wrap="square"/>
          <a:lstStyle/>
          <a:p>
            <a:pPr defTabSz="914400"/>
            <a:r>
              <a:rPr sz="1400" dirty="0">
                <a:solidFill>
                  <a:srgbClr val="604B7A"/>
                </a:solidFill>
                <a:latin typeface="Segoe UI"/>
                <a:ea typeface="Segoe UI"/>
                <a:cs typeface="Segoe UI"/>
              </a:rPr>
              <a:t>Average Stay Duration by Department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 rot="0">
            <a:off x="5562601" y="1943101"/>
            <a:ext cx="6350000" cy="36195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  <p:sp>
        <p:nvSpPr>
          <p:cNvPr id="21" name="Rectangle21"/>
          <p:cNvSpPr>
            <a:spLocks/>
          </p:cNvSpPr>
          <p:nvPr/>
        </p:nvSpPr>
        <p:spPr>
          <a:xfrm rot="0">
            <a:off x="736601" y="5689601"/>
            <a:ext cx="4711700" cy="4191000"/>
          </a:xfrm>
          <a:prstGeom prst="rect">
            <a:avLst/>
          </a:prstGeom>
          <a:solidFill>
            <a:srgbClr val="FFFFFF"/>
          </a:solidFill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22" name="Line22"/>
          <p:cNvCxnSpPr/>
          <p:nvPr/>
        </p:nvCxnSpPr>
        <p:spPr>
          <a:xfrm rot="0">
            <a:off x="736601" y="5689601"/>
            <a:ext cx="47117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ne23"/>
          <p:cNvCxnSpPr/>
          <p:nvPr/>
        </p:nvCxnSpPr>
        <p:spPr>
          <a:xfrm rot="0">
            <a:off x="736601" y="9880601"/>
            <a:ext cx="47117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ne24"/>
          <p:cNvCxnSpPr/>
          <p:nvPr/>
        </p:nvCxnSpPr>
        <p:spPr>
          <a:xfrm rot="0">
            <a:off x="736601" y="5689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ne25"/>
          <p:cNvCxnSpPr/>
          <p:nvPr/>
        </p:nvCxnSpPr>
        <p:spPr>
          <a:xfrm rot="0">
            <a:off x="5448301" y="5689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26"/>
          <p:cNvSpPr>
            <a:spLocks/>
          </p:cNvSpPr>
          <p:nvPr/>
        </p:nvSpPr>
        <p:spPr>
          <a:xfrm rot="0">
            <a:off x="800101" y="5816601"/>
            <a:ext cx="2501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t" wrap="square"/>
          <a:lstStyle/>
          <a:p>
            <a:pPr defTabSz="914400"/>
            <a:r>
              <a:rPr sz="1400" dirty="0">
                <a:solidFill>
                  <a:srgbClr val="604B7A"/>
                </a:solidFill>
                <a:latin typeface="Segoe UI"/>
                <a:ea typeface="Segoe UI"/>
                <a:cs typeface="Segoe UI"/>
              </a:rPr>
              <a:t>Patients Count by Department</a:t>
            </a:r>
          </a:p>
        </p:txBody>
      </p:sp>
      <p:graphicFrame>
        <p:nvGraphicFramePr>
          <p:cNvPr id="27" name="Table 27"/>
          <p:cNvGraphicFramePr/>
          <p:nvPr/>
        </p:nvGraphicFramePr>
        <p:xfrm rot="0">
          <a:off x="749301" y="6261101"/>
          <a:ext cx="4686300" cy="356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6800"/>
                <a:gridCol w="2349500"/>
              </a:tblGrid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b="1" dirty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Department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77A7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333" b="1" dirty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Patients Count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77A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Cardiology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2344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Dermatology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2321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Neurology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2265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Ophthalmology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2303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Orthopedics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2295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Pediatrics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/>
                      <a:r>
                        <a:rPr sz="1333" dirty="0">
                          <a:solidFill>
                            <a:srgbClr val="000000"/>
                          </a:solidFill>
                          <a:latin typeface="Segoe UI"/>
                          <a:ea typeface="Segoe UI"/>
                          <a:cs typeface="Segoe UI"/>
                        </a:rPr>
                        <a:t>2342</a:t>
                      </a:r>
                    </a:p>
                  </a:txBody>
                  <a:tcPr marL="67733" marR="33867" marT="33867" marB="33867" anchor="ctr" horzOverflow="overflow">
                    <a:lnL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L>
                    <a:lnR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R>
                    <a:lnT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T>
                    <a:lnB w="16933">
                      <a:solidFill>
                        <a:srgbClr val="D3D3D3">
                          <a:alpha val="100000"/>
                        </a:srgbClr>
                      </a:solidFill>
                      <a:prstDash val="solid"/>
                      <a:headEnd type="none"/>
                      <a:tailEnd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Rectangle28"/>
          <p:cNvSpPr>
            <a:spLocks/>
          </p:cNvSpPr>
          <p:nvPr/>
        </p:nvSpPr>
        <p:spPr>
          <a:xfrm rot="0">
            <a:off x="5562601" y="5689601"/>
            <a:ext cx="6375400" cy="4191000"/>
          </a:xfrm>
          <a:prstGeom prst="rect">
            <a:avLst/>
          </a:prstGeom>
          <a:solidFill>
            <a:srgbClr val="FFFFFF"/>
          </a:solidFill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cxnSp>
        <p:nvCxnSpPr>
          <p:cNvPr id="29" name="Line29"/>
          <p:cNvCxnSpPr/>
          <p:nvPr/>
        </p:nvCxnSpPr>
        <p:spPr>
          <a:xfrm rot="0">
            <a:off x="5562601" y="5689601"/>
            <a:ext cx="63754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ne30"/>
          <p:cNvCxnSpPr/>
          <p:nvPr/>
        </p:nvCxnSpPr>
        <p:spPr>
          <a:xfrm rot="0">
            <a:off x="5562601" y="9880601"/>
            <a:ext cx="6375400" cy="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31"/>
          <p:cNvCxnSpPr/>
          <p:nvPr/>
        </p:nvCxnSpPr>
        <p:spPr>
          <a:xfrm rot="0">
            <a:off x="5562601" y="5689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ne32"/>
          <p:cNvCxnSpPr/>
          <p:nvPr/>
        </p:nvCxnSpPr>
        <p:spPr>
          <a:xfrm rot="0">
            <a:off x="11938001" y="5689601"/>
            <a:ext cx="0" cy="4191000"/>
          </a:xfrm>
          <a:prstGeom prst="line">
            <a:avLst/>
          </a:prstGeom>
          <a:ln w="4191">
            <a:solidFill>
              <a:srgbClr val="D3D3D3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33"/>
          <p:cNvSpPr>
            <a:spLocks/>
          </p:cNvSpPr>
          <p:nvPr/>
        </p:nvSpPr>
        <p:spPr>
          <a:xfrm rot="0">
            <a:off x="5626101" y="5816601"/>
            <a:ext cx="3098800" cy="31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solidFill>
              <a:srgbClr val="FFFFFF">
                <a:alpha val="0"/>
              </a:srgb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3867" tIns="33867" rIns="33867" bIns="33867" anchor="t" wrap="square"/>
          <a:lstStyle/>
          <a:p>
            <a:pPr defTabSz="914400"/>
            <a:r>
              <a:rPr sz="1400" dirty="0">
                <a:solidFill>
                  <a:srgbClr val="604B7A"/>
                </a:solidFill>
                <a:latin typeface="Segoe UI"/>
                <a:ea typeface="Segoe UI"/>
                <a:cs typeface="Segoe UI"/>
              </a:rPr>
              <a:t>Average Waiting Time by Department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>
          <a:xfrm rot="0">
            <a:off x="5562601" y="6261101"/>
            <a:ext cx="6350000" cy="3594100"/>
          </a:xfrm>
          <a:prstGeom prst="rect">
            <a:avLst/>
          </a:prstGeom>
          <a:ln>
            <a:solidFill>
              <a:srgbClr val="FFFFFF">
                <a:alpha val="100000"/>
              </a:srgbClr>
            </a:solidFill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2025-06-09T05:25:22Z</dcterms:modified>
</cp:coreProperties>
</file>